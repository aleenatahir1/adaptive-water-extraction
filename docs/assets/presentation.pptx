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01 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0F172A"/>
                </a:solidFill>
                <a:latin typeface="Cambria"/>
              </a:rPr>
              <a:t>Adaptive Water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333D4F"/>
                </a:solidFill>
                <a:latin typeface="Cambria"/>
              </a:rPr>
              <a:t>with Q Learning under Climate Stress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297680"/>
            <a:ext cx="3200400" cy="0"/>
          </a:xfrm>
          <a:prstGeom prst="line">
            <a:avLst/>
          </a:prstGeom>
          <a:ln w="254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An agent based model in Python.  Mesa framework.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Group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891B2"/>
                </a:solidFill>
                <a:latin typeface="Cambria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487168"/>
            <a:ext cx="0" cy="329184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34640" y="23774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Saqlain Abbas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175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891B2"/>
                </a:solidFill>
                <a:latin typeface="Cambria"/>
              </a:rPr>
              <a:t>02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3127248"/>
            <a:ext cx="0" cy="329184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34640" y="30175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Aleena Tahir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576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891B2"/>
                </a:solidFill>
                <a:latin typeface="Cambria"/>
              </a:rPr>
              <a:t>03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767328"/>
            <a:ext cx="0" cy="329184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34640" y="3657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Aena Habib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976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891B2"/>
                </a:solidFill>
                <a:latin typeface="Cambria"/>
              </a:rPr>
              <a:t>04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51760" y="4407408"/>
            <a:ext cx="0" cy="329184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34640" y="42976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Eman Asghar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3776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891B2"/>
                </a:solidFill>
                <a:latin typeface="Cambria"/>
              </a:rPr>
              <a:t>05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51760" y="5047488"/>
            <a:ext cx="0" cy="329184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34640" y="49377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  <a:latin typeface="Calibri"/>
              </a:rPr>
              <a:t>Dua Kamal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The Problem and the 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How the Model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7121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mbr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7121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Climate Scenarios and Experimental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5526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mbr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5526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Result 1.  Tragedy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3931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mbria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393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Result 2.  Enforcement Saves the Stable Climate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023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Result 3.  Why Enforcement Fails Under Stress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0740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mbria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074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Primary RQ.  Effect of Discount Factor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9145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mbria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79145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Sensitivity and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7550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Cambria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7550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Conclusions and Future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01 .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Tragedy of the Commons meets a changing climate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1153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DC2626"/>
                </a:solidFill>
                <a:latin typeface="Calibri"/>
              </a:rPr>
              <a:t>• </a:t>
            </a:r>
            <a:r>
              <a:rPr sz="1500">
                <a:solidFill>
                  <a:srgbClr val="333D4F"/>
                </a:solidFill>
                <a:latin typeface="Calibri"/>
              </a:rPr>
              <a:t>Twenty farmers share one river. Each season every farmer decides how much water to extract.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DC2626"/>
                </a:solidFill>
                <a:latin typeface="Calibri"/>
              </a:rPr>
              <a:t>• </a:t>
            </a:r>
            <a:r>
              <a:rPr sz="1500">
                <a:solidFill>
                  <a:srgbClr val="333D4F"/>
                </a:solidFill>
                <a:latin typeface="Calibri"/>
              </a:rPr>
              <a:t>If everyone extracts heavily, the resource collapses and everyone loses. Hardin (1968) called this the Tragedy of the Commons.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DC2626"/>
                </a:solidFill>
                <a:latin typeface="Calibri"/>
              </a:rPr>
              <a:t>• </a:t>
            </a:r>
            <a:r>
              <a:rPr sz="1500">
                <a:solidFill>
                  <a:srgbClr val="333D4F"/>
                </a:solidFill>
                <a:latin typeface="Calibri"/>
              </a:rPr>
              <a:t>Pakistan's Indus Basin supports over 90 percent of national agriculture and is one of the world's most water stressed basins.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DC2626"/>
                </a:solidFill>
                <a:latin typeface="Calibri"/>
              </a:rPr>
              <a:t>• </a:t>
            </a:r>
            <a:r>
              <a:rPr sz="1500">
                <a:solidFill>
                  <a:srgbClr val="333D4F"/>
                </a:solidFill>
                <a:latin typeface="Calibri"/>
              </a:rPr>
              <a:t>By 2030 nearly half the global population will live in regions of high water stress (UN World Water Development Report).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DC2626"/>
                </a:solidFill>
                <a:latin typeface="Calibri"/>
              </a:rPr>
              <a:t>• </a:t>
            </a:r>
            <a:r>
              <a:rPr sz="1500">
                <a:solidFill>
                  <a:srgbClr val="333D4F"/>
                </a:solidFill>
                <a:latin typeface="Calibri"/>
              </a:rPr>
              <a:t>Real farmers learn, observe neighbors, and adapt. Existing agent based models do not capture this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01 .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Research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11535" cy="15544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9144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PRIMARY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28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0F172A"/>
                </a:solidFill>
                <a:latin typeface="Cambria"/>
              </a:rPr>
              <a:t>How does the discount factor gamma in Q learning agents affect the emergence of sustainable water extraction strategies under varying climate stress scenarios?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SUB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</a:t>
            </a:r>
            <a:r>
              <a:rPr sz="1400">
                <a:solidFill>
                  <a:srgbClr val="333D4F"/>
                </a:solidFill>
                <a:latin typeface="Calibri"/>
              </a:rPr>
              <a:t>Can Q learning agents discover cooperative strategies without external enforcement?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</a:t>
            </a:r>
            <a:r>
              <a:rPr sz="1400">
                <a:solidFill>
                  <a:srgbClr val="333D4F"/>
                </a:solidFill>
                <a:latin typeface="Calibri"/>
              </a:rPr>
              <a:t>How do learned strategies break down under sudden drought shocks, and how fast do agents re adapt?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7C3AED"/>
                </a:solidFill>
                <a:latin typeface="Calibri"/>
              </a:rPr>
              <a:t>• </a:t>
            </a:r>
            <a:r>
              <a:rPr sz="1400">
                <a:solidFill>
                  <a:srgbClr val="333D4F"/>
                </a:solidFill>
                <a:latin typeface="Calibri"/>
              </a:rPr>
              <a:t>At what monitoring intensity does enforcement become unnecessary?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  <a:latin typeface="Calibri"/>
              </a:rPr>
              <a:t>02 .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How the Model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Three stage step.  Act, monitor, regenerate, finalize.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1153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• </a:t>
            </a:r>
            <a:r>
              <a:rPr sz="1400">
                <a:solidFill>
                  <a:srgbClr val="333D4F"/>
                </a:solidFill>
                <a:latin typeface="Calibri"/>
              </a:rPr>
              <a:t>Each irrigator chooses one of five extraction levels: 0, 25, 50, 75, 100 percent of max.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• </a:t>
            </a:r>
            <a:r>
              <a:rPr sz="1400">
                <a:solidFill>
                  <a:srgbClr val="333D4F"/>
                </a:solidFill>
                <a:latin typeface="Calibri"/>
              </a:rPr>
              <a:t>Observed state. Water level bin, own previous action, neighbors average action, climate stress flag.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• </a:t>
            </a:r>
            <a:r>
              <a:rPr sz="1400">
                <a:solidFill>
                  <a:srgbClr val="333D4F"/>
                </a:solidFill>
                <a:latin typeface="Calibri"/>
              </a:rPr>
              <a:t>Reward equals log utility of water extracted minus a sustainability penalty minus any fine.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• </a:t>
            </a:r>
            <a:r>
              <a:rPr sz="1400">
                <a:solidFill>
                  <a:srgbClr val="333D4F"/>
                </a:solidFill>
                <a:latin typeface="Calibri"/>
              </a:rPr>
              <a:t>Shared resource follows logistic regeneration with a baseline inflow modulated by climate factor.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• </a:t>
            </a:r>
            <a:r>
              <a:rPr sz="1400">
                <a:solidFill>
                  <a:srgbClr val="333D4F"/>
                </a:solidFill>
                <a:latin typeface="Calibri"/>
              </a:rPr>
              <a:t>Monitor agent catches over extractors with probability p detect and issues a fine.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• </a:t>
            </a:r>
            <a:r>
              <a:rPr sz="1400">
                <a:solidFill>
                  <a:srgbClr val="333D4F"/>
                </a:solidFill>
                <a:latin typeface="Calibri"/>
              </a:rPr>
              <a:t>Social network is a random k regular graph. Each farmer observes k neighbors.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• </a:t>
            </a:r>
            <a:r>
              <a:rPr sz="1400">
                <a:solidFill>
                  <a:srgbClr val="333D4F"/>
                </a:solidFill>
                <a:latin typeface="Calibri"/>
              </a:rPr>
              <a:t>Implemented in Python 3.12 with Mesa 2.3.4. About 700 lines of clear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02 .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The Q Learning Update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Watkins and Dayan, 1992.  Tabular and interpretable.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11535" cy="14630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91440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Cambria"/>
              </a:rPr>
              <a:t>Q(s, a)   =   Q(s, a)   +   alpha [ r + gamma . max Q(s', a')   minus   Q(s, a)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mbria"/>
              </a:rPr>
              <a:t>alpha is the learning rate.   gamma is the discount factor.   s' is the post regen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91153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Exploration uses epsilon greedy with exponential decay. Epsilon starts at 0.30, decays at rate 0.010.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State space is small. About 150 unique state action pairs. Fits in a tabular Q table.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Action 2 equals each agent's fair share of total sustainable yield. Auto scaled with N.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Heterogeneity. Each agent has its own RNG and its own initial Q table noise.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  <a:latin typeface="Calibri"/>
              </a:rPr>
              <a:t>03 .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Climate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Four climate factor profiles test resilience.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91153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537"/>
                <a:gridCol w="8510997"/>
              </a:tblGrid>
              <a:tr h="5486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0891B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Climate factor profile</a:t>
                      </a:r>
                    </a:p>
                  </a:txBody>
                  <a:tcPr marL="91440" marR="91440" marT="45720" marB="45720">
                    <a:solidFill>
                      <a:srgbClr val="0891B2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c_f = 1.0 forever.  Baseline.  No climate change.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Gradual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c_f declines linearly from 1.0 to 0.5 over 400 steps.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Shock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c_f = 1.0 normally.  Drops to 0.3 between steps 200 and 300.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Stochastic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c_f is gaussian noise around 0.85, clipped to [0.3, 1.0].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4864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c_f multiplies BOTH logistic regeneration AND baseline inflow.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Lower c_f means less water replenished each season.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03 .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Three batch experiments totaling 340 runs.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91153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6001344"/>
                <a:gridCol w="1636730"/>
              </a:tblGrid>
              <a:tr h="5486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 marL="91440" marR="91440" marT="45720" marB="45720">
                    <a:solidFill>
                      <a:srgbClr val="D9770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marL="91440" marR="91440" marT="45720" marB="45720">
                    <a:solidFill>
                      <a:srgbClr val="D9770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Runs</a:t>
                      </a:r>
                    </a:p>
                  </a:txBody>
                  <a:tcPr marL="91440" marR="91440" marT="45720" marB="45720">
                    <a:solidFill>
                      <a:srgbClr val="D97706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A.  Tragedy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4 climates x 30 seeds.  No monitor.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B.  With enforcement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4 climates x 30 seeds.  p detect = 0.3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C.  Gamma sweep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stable and shock x 5 gamma x 10 seeds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72000"/>
            <a:ext cx="109115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D97706"/>
                </a:solidFill>
                <a:latin typeface="Calibri"/>
              </a:rPr>
              <a:t>• </a:t>
            </a:r>
            <a:r>
              <a:rPr sz="1300">
                <a:solidFill>
                  <a:srgbClr val="333D4F"/>
                </a:solidFill>
                <a:latin typeface="Calibri"/>
              </a:rPr>
              <a:t>Each run is 500 simulation steps.  About 125 seasons if one step is one quarter year.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D97706"/>
                </a:solidFill>
                <a:latin typeface="Calibri"/>
              </a:rPr>
              <a:t>• </a:t>
            </a:r>
            <a:r>
              <a:rPr sz="1300">
                <a:solidFill>
                  <a:srgbClr val="333D4F"/>
                </a:solidFill>
                <a:latin typeface="Calibri"/>
              </a:rPr>
              <a:t>Sensitivity analysis varies alpha, gamma, epsilon, regeneration rate, p detect, N by plus or minus 20 percent.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D97706"/>
                </a:solidFill>
                <a:latin typeface="Calibri"/>
              </a:rPr>
              <a:t>• </a:t>
            </a:r>
            <a:r>
              <a:rPr sz="1300">
                <a:solidFill>
                  <a:srgbClr val="333D4F"/>
                </a:solidFill>
                <a:latin typeface="Calibri"/>
              </a:rPr>
              <a:t>Validation.  Three sanity checks against Hardin 1968, Perolat 2017, Indus Basin 2022.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04 . RESULT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Tragedy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Without enforcement every climate collapses.</a:t>
            </a:r>
          </a:p>
        </p:txBody>
      </p:sp>
      <p:pic>
        <p:nvPicPr>
          <p:cNvPr id="7" name="Picture 6" descr="fig01_water_by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2011680"/>
            <a:ext cx="6389001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2011680"/>
            <a:ext cx="3962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77440"/>
            <a:ext cx="39620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All four scenarios collapse to roughly 5 units of water within 80 steps.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Mean payoff falls to between minus 755 and minus 804 per agent.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Standard deviation across 30 seeds is effectively zero.  Tragedy is deterministic.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Reproduces Hardin (1968) at the population level.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05 . RESULT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Enforcement Saves the Stable Climate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Moderate monitoring flips the dynamics.</a:t>
            </a:r>
          </a:p>
        </p:txBody>
      </p:sp>
      <p:pic>
        <p:nvPicPr>
          <p:cNvPr id="7" name="Picture 6" descr="fig02_enforcement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6583680" cy="27006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2011680"/>
            <a:ext cx="3962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77440"/>
            <a:ext cx="39620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Stable scenario.  Water rises from 5 to 685.  A 125 times improvement.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Mean payoff turns positive.  Minus 756 becomes plus 222 per agent.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Eighty six percent of agents choose cooperative actions.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59669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Three other scenarios still collapse.  See next slide for why.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06 . KEY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Why Enforcement Fails Under Stress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The fixed quota policy breaks when climate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11535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1045433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Even p detect = 0.9 cannot save the drought shock scenario.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834640"/>
          <a:ext cx="1091153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4364614"/>
                <a:gridCol w="4364614"/>
              </a:tblGrid>
              <a:tr h="4114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 detect</a:t>
                      </a:r>
                    </a:p>
                  </a:txBody>
                  <a:tcPr marL="91440" marR="91440" marT="45720" marB="45720">
                    <a:solidFill>
                      <a:srgbClr val="DC262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stable.  final water</a:t>
                      </a:r>
                    </a:p>
                  </a:txBody>
                  <a:tcPr marL="91440" marR="91440" marT="45720" marB="45720">
                    <a:solidFill>
                      <a:srgbClr val="DC262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shock.  final water</a:t>
                      </a:r>
                    </a:p>
                  </a:txBody>
                  <a:tcPr marL="91440" marR="91440" marT="45720" marB="45720">
                    <a:solidFill>
                      <a:srgbClr val="DC2626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700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5.6  (collapsed)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0.6</a:t>
                      </a:r>
                    </a:p>
                  </a:txBody>
                  <a:tcPr marL="91440" marR="91440" marT="45720" marB="45720">
                    <a:solidFill>
                      <a:srgbClr val="FEF2F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777</a:t>
                      </a:r>
                    </a:p>
                  </a:txBody>
                  <a:tcPr marL="91440" marR="91440" marT="45720" marB="45720">
                    <a:solidFill>
                      <a:srgbClr val="FEF2F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5.6  (collapsed)</a:t>
                      </a:r>
                    </a:p>
                  </a:txBody>
                  <a:tcPr marL="91440" marR="91440" marT="45720" marB="45720"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787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5.6  (collapsed)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7548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WHY IT HAPPENS  (structural, not a tuning issue)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Agents' five action grid is calibrated to baseline climate where c f = 1.0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When c f drops to 0.3 during the shock, even the cooperative fair share action is over extraction.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Sixty eight percent of agents are STILL choosing cooperative actions during failure.  Not selfish.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DC2626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Implication.  Real regulators need adaptive (climate aware) quotas.  Fixed quotas are not enough.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07 . PRIMARY RQ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Effect of the Discount 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Gamma sweep over stable and shock scenarios.</a:t>
            </a:r>
          </a:p>
        </p:txBody>
      </p:sp>
      <p:pic>
        <p:nvPicPr>
          <p:cNvPr id="7" name="Picture 6" descr="fig03_gamm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6583680" cy="24634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2011680"/>
            <a:ext cx="3962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77440"/>
            <a:ext cx="39620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Stable scenario.  Final water mildly DECREASES with gamma.  From 748 down to 688.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Shock scenario.  Final water is identical at 5.55 across all gamma values.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Surprising direction.  Lower gamma is slightly better in stable climate.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Refines the answer.  Gamma is not the resilience knob.  Action space matters more.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  <a:latin typeface="Calibri"/>
              </a:rPr>
              <a:t>08 .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Sensitivity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Plus or minus 20 percent on six parameters.</a:t>
            </a:r>
          </a:p>
        </p:txBody>
      </p:sp>
      <p:pic>
        <p:nvPicPr>
          <p:cNvPr id="7" name="Picture 6" descr="fig04_sensitivity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6583680" cy="40656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2011680"/>
            <a:ext cx="3962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  <a:latin typeface="Calibri"/>
              </a:rP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77440"/>
            <a:ext cx="39620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891B2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p detect dominates.  Plus or minus 38 units of final water.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891B2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Epsilon zero and alpha are non monotonic.  Baseline near local optimum.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891B2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Gamma effect moderate.  Regeneration rate small.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>
                <a:solidFill>
                  <a:srgbClr val="0891B2"/>
                </a:solidFill>
                <a:latin typeface="Calibri"/>
              </a:rPr>
              <a:t>• </a:t>
            </a:r>
            <a:r>
              <a:rPr sz="1200">
                <a:solidFill>
                  <a:srgbClr val="333D4F"/>
                </a:solidFill>
                <a:latin typeface="Calibri"/>
              </a:rPr>
              <a:t>Validates that p detect = 0.3 is a fair choice for headline runs.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08 .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Validation Against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Three sanity checks.  All three pass.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1091153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1854960"/>
                <a:gridCol w="5783113"/>
                <a:gridCol w="2727883"/>
              </a:tblGrid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05966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05966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05966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059669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Hardin 1968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No enforcement should collapse.  With enforcement under stable climate it should sustain.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PASS  5.6 vs 504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Perolat et al 2017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Scarcity should drive aggression.  Compare frac defect steps 200-300, stable vs shock with enforcement.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PASS  25.3% vs 36.5%</a:t>
                      </a:r>
                    </a:p>
                  </a:txBody>
                  <a:tcPr marL="91440" marR="91440" marT="45720" marB="45720">
                    <a:solidFill>
                      <a:srgbClr val="ECFDF5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Indus Basin 2022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A 70% drop in c f should leave a measurable dip in water level at step 300.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PASS  507 vs 1.5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07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297680"/>
            <a:ext cx="8503920" cy="22595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08 .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Emergent Spatial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Three snapshots from one shock scenario run.</a:t>
            </a:r>
          </a:p>
        </p:txBody>
      </p:sp>
      <p:pic>
        <p:nvPicPr>
          <p:cNvPr id="7" name="Picture 6" descr="fig08_grid_pre_sh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9" y="2011680"/>
            <a:ext cx="3464096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2287" y="5760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Cambria"/>
              </a:rPr>
              <a:t>Step 199.  Pre shock cooperation</a:t>
            </a:r>
          </a:p>
        </p:txBody>
      </p:sp>
      <p:pic>
        <p:nvPicPr>
          <p:cNvPr id="9" name="Picture 8" descr="fig09_grid_during_sh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799" y="2011680"/>
            <a:ext cx="3464096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12767" y="5760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Cambria"/>
              </a:rPr>
              <a:t>Step 260.  Mid shock pressure</a:t>
            </a:r>
          </a:p>
        </p:txBody>
      </p:sp>
      <p:pic>
        <p:nvPicPr>
          <p:cNvPr id="11" name="Picture 10" descr="fig10_grid_recov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79" y="2011680"/>
            <a:ext cx="3464096" cy="3657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53247" y="5760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Cambria"/>
              </a:rPr>
              <a:t>Step 450.  Post shock equilibrium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475488"/>
            <a:ext cx="274320" cy="0"/>
          </a:xfrm>
          <a:prstGeom prst="line">
            <a:avLst/>
          </a:prstGeom>
          <a:ln w="317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24128" y="3840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  <a:latin typeface="Calibri"/>
              </a:rPr>
              <a:t>09 . 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Conclusions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 Light"/>
              </a:rPr>
              <a:t>What we learned. What comes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  <a:latin typeface="Calibri"/>
              </a:rPr>
              <a:t>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91153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</a:t>
            </a:r>
            <a:r>
              <a:rPr sz="1300">
                <a:solidFill>
                  <a:srgbClr val="333D4F"/>
                </a:solidFill>
                <a:latin typeface="Calibri"/>
              </a:rPr>
              <a:t>Pure Q learners reproduce the tragedy of the commons in every climate scenario.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</a:t>
            </a:r>
            <a:r>
              <a:rPr sz="1300">
                <a:solidFill>
                  <a:srgbClr val="333D4F"/>
                </a:solidFill>
                <a:latin typeface="Calibri"/>
              </a:rPr>
              <a:t>Moderate enforcement at p detect = 0.3 saves cooperation under stable climate.  Water rises from 5 to 685.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</a:t>
            </a:r>
            <a:r>
              <a:rPr sz="1300">
                <a:solidFill>
                  <a:srgbClr val="333D4F"/>
                </a:solidFill>
                <a:latin typeface="Calibri"/>
              </a:rPr>
              <a:t>The SAME enforcement fails under any climate stress.  Even p detect = 0.9 cannot rescue shock.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</a:t>
            </a:r>
            <a:r>
              <a:rPr sz="1300">
                <a:solidFill>
                  <a:srgbClr val="333D4F"/>
                </a:solidFill>
                <a:latin typeface="Calibri"/>
              </a:rPr>
              <a:t>Gamma matters at the margins under stable climate but is dominated by climate dynamics under stress.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9115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</a:t>
            </a:r>
            <a:r>
              <a:rPr sz="1300">
                <a:solidFill>
                  <a:srgbClr val="333D4F"/>
                </a:solidFill>
                <a:latin typeface="Calibri"/>
              </a:rPr>
              <a:t>Continuous or adaptive action space so agents can scale extraction with current regeneration.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</a:t>
            </a:r>
            <a:r>
              <a:rPr sz="1300">
                <a:solidFill>
                  <a:srgbClr val="333D4F"/>
                </a:solidFill>
                <a:latin typeface="Calibri"/>
              </a:rPr>
              <a:t>Climate aware monitor that tightens the fair share threshold during droughts.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</a:t>
            </a:r>
            <a:r>
              <a:rPr sz="1300">
                <a:solidFill>
                  <a:srgbClr val="333D4F"/>
                </a:solidFill>
                <a:latin typeface="Calibri"/>
              </a:rPr>
              <a:t>Deep reinforcement learning extension.  Comparison with human commons experiments.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0" b="1" i="0">
                <a:solidFill>
                  <a:srgbClr val="0F172A"/>
                </a:solidFill>
                <a:latin typeface="Cambria"/>
              </a:rPr>
              <a:t>Thank you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4572000"/>
            <a:ext cx="3931920" cy="0"/>
          </a:xfrm>
          <a:prstGeom prst="line">
            <a:avLst/>
          </a:prstGeom>
          <a:ln w="254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